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Machine Learning Lifecycle Management with MLflow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48F96"/>
                </a:solidFill>
                <a:latin typeface="Calibri"/>
              </a:rPr>
              <a:t>Predicting E-Commerce Customer Churn — an end-to-end MLOps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Asra Sarı  ·  Student No. 2101640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2F5F7"/>
                </a:solidFill>
                <a:latin typeface="Calibri"/>
              </a:rPr>
              <a:t>AIN-3009  Delivering AI Applications with MLOps  ·  Bahçeşehir University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48F96"/>
                </a:solidFill>
                <a:latin typeface="Calibri"/>
              </a:rPr>
              <a:t>github.com/asrasari/ecommerce-churn-mlops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The Problem &amp;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675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8F96"/>
                </a:solidFill>
                <a:latin typeface="Calibri"/>
              </a:rPr>
              <a:t>Why churn?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Retaining a customer is far cheaper than acquiring a new one — predicting who will leave lets a business act early.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48F96"/>
                </a:solidFill>
                <a:latin typeface="Calibri"/>
              </a:rPr>
              <a:t>But the real focus: managing the ML lifecycle with MLflow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Track experiments · tune · register · deploy · monitor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48F96"/>
                </a:solidFill>
                <a:latin typeface="Calibri"/>
              </a:rPr>
              <a:t>Dataset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E-Commerce Customer Churn — 3,941 customers, 10 features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Target: Churn (yes/no), ~17% churn — a class imbalance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•  8 numeric + 2 categorical features; 576 missing values handled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0" y="1554480"/>
            <a:ext cx="3931920" cy="4572000"/>
          </a:xfrm>
          <a:prstGeom prst="rect">
            <a:avLst/>
          </a:prstGeom>
          <a:solidFill>
            <a:srgbClr val="F2F5F7"/>
          </a:solidFill>
          <a:ln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42A4A"/>
                </a:solidFill>
                <a:latin typeface="Calibri"/>
              </a:rPr>
              <a:t>Example features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•  Tenure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•  Satisfaction score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•  Complaint filed?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•  Days since last order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•  Cashback amount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•  Preferred order category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•  Marital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System Architecture — the MLflow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011680"/>
            <a:ext cx="2057400" cy="24688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  Track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Log every model run:
params, metrics,
plots,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78608" y="3017520"/>
            <a:ext cx="411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39" y="2011680"/>
            <a:ext cx="2057400" cy="2468880"/>
          </a:xfrm>
          <a:prstGeom prst="rect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  Tune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Optuna search,
each trial a
nested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0327" y="3017520"/>
            <a:ext cx="411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59" y="2011680"/>
            <a:ext cx="2057400" cy="24688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  Register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Best model →
Staging →
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3017520"/>
            <a:ext cx="411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011680"/>
            <a:ext cx="2057400" cy="2468880"/>
          </a:xfrm>
          <a:prstGeom prst="rect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  Serve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Load Production
model, predict
via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3767" y="3017520"/>
            <a:ext cx="411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2011680"/>
            <a:ext cx="2057400" cy="24688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  Monitor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Live metrics +
PSI drift over
incoming batches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3"/>
                </a:solidFill>
                <a:latin typeface="Calibri"/>
              </a:rPr>
              <a:t>A local MLflow tracking server (port 8080) with a SQLite metadata database and a local artifact store ties it together. An Airflow DAG orchestrates the pipeline on a schedule.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A6B7B"/>
                </a:solidFill>
                <a:latin typeface="Calibri"/>
              </a:rPr>
              <a:t>Code: focused Python modules — data_prep · train · tune · register · serve ·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Experiment Tracking —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B33"/>
                </a:solidFill>
                <a:latin typeface="Calibri"/>
              </a:rPr>
              <a:t>Three models trained, each logged as an MLflow run and compared in the UI.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46888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9436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0.544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0.879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B33"/>
                          </a:solidFill>
                        </a:rPr>
                        <a:t>0.927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8F96"/>
                          </a:solidFill>
                        </a:rPr>
                        <a:t>Random Forest  ★</a:t>
                      </a:r>
                    </a:p>
                  </a:txBody>
                  <a:tcPr>
                    <a:solidFill>
                      <a:srgbClr val="E3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8F96"/>
                          </a:solidFill>
                        </a:rPr>
                        <a:t>0.783</a:t>
                      </a:r>
                    </a:p>
                  </a:txBody>
                  <a:tcPr>
                    <a:solidFill>
                      <a:srgbClr val="E3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8F96"/>
                          </a:solidFill>
                        </a:rPr>
                        <a:t>0.966</a:t>
                      </a:r>
                    </a:p>
                  </a:txBody>
                  <a:tcPr>
                    <a:solidFill>
                      <a:srgbClr val="E3F3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22B33"/>
                </a:solidFill>
                <a:latin typeface="Calibri"/>
              </a:rPr>
              <a:t>Random Forest wins — ROC-AUC 0.966. AUC is the key metric because the classes are imbalanced.</a:t>
            </a:r>
          </a:p>
        </p:txBody>
      </p:sp>
      <p:pic>
        <p:nvPicPr>
          <p:cNvPr id="7" name="Picture 6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477176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Tuning &amp; the Model Registry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3949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8F96"/>
                </a:solidFill>
                <a:latin typeface="Calibri"/>
              </a:rPr>
              <a:t>Hyperparameter tuning — Optuna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3"/>
                </a:solidFill>
                <a:latin typeface="Calibri"/>
              </a:rPr>
              <a:t>•  20 automated trials searching n_estimators, learning rate, depth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3"/>
                </a:solidFill>
                <a:latin typeface="Calibri"/>
              </a:rPr>
              <a:t>•  Every trial logged as a nested MLflow run — full audit trail</a:t>
            </a:r>
          </a:p>
          <a:p>
            <a:pPr algn="l">
              <a:spcAft>
                <a:spcPts val="1800"/>
              </a:spcAft>
            </a:pPr>
            <a:r>
              <a:rPr sz="1700" b="0">
                <a:solidFill>
                  <a:srgbClr val="222B33"/>
                </a:solidFill>
                <a:latin typeface="Calibri"/>
              </a:rPr>
              <a:t>•  Best tuned model: ROC-AUC ≈ 0.958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48F96"/>
                </a:solidFill>
                <a:latin typeface="Calibri"/>
              </a:rPr>
              <a:t>Model Registry — lifecycle control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3"/>
                </a:solidFill>
                <a:latin typeface="Calibri"/>
              </a:rPr>
              <a:t>•  Best run registered as ecommerce-churn-model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3"/>
                </a:solidFill>
                <a:latin typeface="Calibri"/>
              </a:rPr>
              <a:t>•  Promoted: new version → Staging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3"/>
                </a:solidFill>
                <a:latin typeface="Calibri"/>
              </a:rPr>
              <a:t>•  Quality gate: ROC-AUC ≥ 0.85 → promoted to Production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A6B7B"/>
                </a:solidFill>
                <a:latin typeface="Calibri"/>
              </a:rPr>
              <a:t>The gate stops a bad model from ever going live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499262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Deployment, Monitoring &amp;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8F96"/>
                </a:solidFill>
                <a:latin typeface="Calibri"/>
              </a:rPr>
              <a:t>Deployment — real-time serving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3"/>
                </a:solidFill>
                <a:latin typeface="Calibri"/>
              </a:rPr>
              <a:t>•  Production model served over HTTP; send a customer record → get a churn prediction back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5A6B7B"/>
                </a:solidFill>
                <a:latin typeface="Calibri"/>
              </a:rPr>
              <a:t>Demo: a short-tenure customer who filed a complaint → predicted to churn (1)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48F96"/>
                </a:solidFill>
                <a:latin typeface="Calibri"/>
              </a:rPr>
              <a:t>Monitoring — drift detection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3"/>
                </a:solidFill>
                <a:latin typeface="Calibri"/>
              </a:rPr>
              <a:t>•  Simulated incoming batches; live metrics logged to MLflow</a:t>
            </a:r>
          </a:p>
          <a:p>
            <a:pPr algn="l">
              <a:spcAft>
                <a:spcPts val="1600"/>
              </a:spcAft>
            </a:pPr>
            <a:r>
              <a:rPr sz="1700" b="0">
                <a:solidFill>
                  <a:srgbClr val="222B33"/>
                </a:solidFill>
                <a:latin typeface="Calibri"/>
              </a:rPr>
              <a:t>•  Population Stability Index (PSI) per feature; PSI &gt; 0.2 = drift → would trigger a retrain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48F96"/>
                </a:solidFill>
                <a:latin typeface="Calibri"/>
              </a:rPr>
              <a:t>Orchestration — Apache Airflow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B33"/>
                </a:solidFill>
                <a:latin typeface="Calibri"/>
              </a:rPr>
              <a:t>•  A DAG runs ingest → train → tune → register on a schedule, calling the same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148F96"/>
                </a:solidFill>
                <a:latin typeface="Calibri"/>
              </a:rPr>
              <a:t>MLflow let me manage the complete ML lifecycle in one reproducible system.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•  Tracking made every experiment comparable and reproducible.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•  The registry gave a controlled Staging → Production path with a quality gate.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•  The same logged model served both batch and real-time predictions.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•  Monitoring closes the loop — drift detection signals when to retrain.</a:t>
            </a:r>
          </a:p>
          <a:p>
            <a:pPr algn="l">
              <a:spcAft>
                <a:spcPts val="2000"/>
              </a:spcAft>
            </a:pPr>
            <a:r>
              <a:rPr sz="1900" b="0">
                <a:solidFill>
                  <a:srgbClr val="148F96"/>
                </a:solidFill>
                <a:latin typeface="Calibri"/>
              </a:rPr>
              <a:t>•  Best model: Random Forest, ROC-AUC 0.966, live in Production.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Thank you!  —  Demo: http://127.0.0.1:8080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